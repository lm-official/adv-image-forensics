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67" r:id="rId4"/>
    <p:sldId id="269" r:id="rId5"/>
    <p:sldId id="282" r:id="rId6"/>
    <p:sldId id="270" r:id="rId7"/>
    <p:sldId id="271" r:id="rId8"/>
    <p:sldId id="283" r:id="rId9"/>
    <p:sldId id="272" r:id="rId10"/>
    <p:sldId id="273" r:id="rId11"/>
    <p:sldId id="284" r:id="rId12"/>
    <p:sldId id="274" r:id="rId13"/>
    <p:sldId id="275" r:id="rId14"/>
    <p:sldId id="276" r:id="rId15"/>
    <p:sldId id="285" r:id="rId16"/>
    <p:sldId id="277" r:id="rId17"/>
    <p:sldId id="278" r:id="rId18"/>
    <p:sldId id="279" r:id="rId19"/>
    <p:sldId id="286" r:id="rId20"/>
    <p:sldId id="280" r:id="rId21"/>
    <p:sldId id="287" r:id="rId22"/>
    <p:sldId id="281" r:id="rId23"/>
    <p:sldId id="268" r:id="rId2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00"/>
    <a:srgbClr val="4C0000"/>
    <a:srgbClr val="3A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022" autoAdjust="0"/>
  </p:normalViewPr>
  <p:slideViewPr>
    <p:cSldViewPr snapToGrid="0" snapToObjects="1">
      <p:cViewPr varScale="1">
        <p:scale>
          <a:sx n="68" d="100"/>
          <a:sy n="68" d="100"/>
        </p:scale>
        <p:origin x="88" y="672"/>
      </p:cViewPr>
      <p:guideLst>
        <p:guide orient="horz" pos="2160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ED68F-A3FC-453E-AB48-95082AA81B68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10883-CFAA-40E9-8C0C-66DEAD1F67F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040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10883-CFAA-40E9-8C0C-66DEAD1F67F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4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16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C48A-DAB1-A970-E9E2-E194C867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1BEF6-57B6-38E4-E854-2E14EBDD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A4237-4CF8-1811-860A-26A3C3247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CBEFD-77BB-8DD2-035B-0E1830490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59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D2EC-234C-8BFA-81FA-6EC9E61F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676CD-BC61-F838-76D3-9F110D57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72B7C-1E78-FD57-F26F-803B60F4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82D1-EDD2-A2FF-7718-FA5A8652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85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E62C-297A-BCDB-2AB5-52863D00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845D2-F2BC-5922-7315-40FCFC151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B5A75-355A-BF2E-38C2-9CCFC4A73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4366-8113-EEB8-81FD-F1027FA0E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3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37CE-D83A-1838-E09E-394C9810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82714-7A71-94B1-4610-4BBA1DD0F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E7ED9-7695-B531-C198-DE5F2B2A5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5705D-3C67-3E06-C7A1-87824DB4D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863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4EA6-9472-A84A-85C6-EAFD0678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45AAC-6DFB-66AF-B650-168C2C3A7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B53D6-E516-E135-EF05-5EFF94FA0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22C5-8C73-B4A8-116D-05293088A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71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E444A-EC4B-C054-81E8-1BFC60BB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D7007-84BC-6966-2EEA-061A42334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7FD00-85E0-D143-56A1-6A91769C1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644D4-2280-3DCE-9D95-DB350491F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871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7CD6-A55E-7912-65B2-7580917E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09D15-54D4-92E8-617C-7CBFFF39C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90046-629B-FCC2-837B-D9CC96BCD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22194-CFFF-8ECC-277A-BF43B2983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29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EBFD-C94F-8A6A-FB54-43BB2D96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1E152-40D7-4E49-0AB3-EDF2A4ED5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024A-14B7-61C3-F56A-007424373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49A7-AE35-72DF-0859-0F2D7405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59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7EF3-4903-770F-3D93-E505F522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E8719-68C7-314B-6ECF-5B62FA3CE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6A7A3-A85F-19C1-C5CE-A1D9D58FB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A7CE9-2895-0181-2426-E442D4DC9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51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90E5-A43C-CF49-5F37-6501CA27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A9F11-9865-2780-D174-B8F1F324D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04A31-DB52-4F7A-CC5B-0482B4C0C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1EFB-99FD-5E2F-0C6C-028AED38A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968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C9F5-EE75-691F-DC79-D82D8A55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FCE7D-4315-B9A1-6DBA-CD7700285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29908-ED65-CBFE-C724-79FE1DA2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E6B2-66F2-C12E-337D-0C6F8B377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269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2714-6CA4-0A38-3A6D-FD4E1612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170E4-5836-0FF8-509D-160706BB3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25FFC-8C1C-6377-48BA-9DE60F750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7E416-49EF-1966-89F5-8EEED4A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21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0454-E7BC-D705-F61D-0482C4ED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F5097-3E80-9781-4A23-E422EA37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C021C-184B-2613-E741-B7D39C0D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27AD-7834-8944-F50A-00AAADCF5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730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B762-F294-4BA6-0CE9-139660DE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F5E1E-7748-FB67-7EE5-743ECB7AE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C8308-3991-A498-F63D-ECFB55452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8E59F-D554-3403-9429-FE6D848AA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45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F5D6-6C6F-6F25-36D7-1A1F3758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1826D-8D5B-8826-A8F4-F9DFBB449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43EF2-45AD-B7F8-A3CD-C86AC363A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FF5B6-9AE0-3DC3-C4A5-B08FD87C1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987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8992-38F1-4929-CA33-45023541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055C-2ED1-8917-7F18-2AD586884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AA128-3232-AB2A-EC86-0B6F34974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4F3B4-648D-01F2-2C08-EB24EF496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039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8BE1-1FE8-50A8-0A27-E26C9E7A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DA947-D9B2-5342-E5F4-65E02B3DE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35DF-CEC4-3F62-4EE4-A147AB76F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23B2-0879-6D37-879E-230C45046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924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CC7E-1BB3-385A-BAB9-1C50D2C9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C2EC0-1E16-80AD-240A-13993B986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3038C-1881-0B06-340F-E79DBFD7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3AC15-19B3-B1BB-B5B4-598D1C7AC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7054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B63B-F1FC-0889-5531-14228F1C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D3296-B2BD-C109-A299-96A8AFF8E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B2A46-9A4D-AB98-B98B-FBF3BFF3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D8D4-D79C-A6E6-DCD2-D01EE2190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287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95E0-B9A0-ADDA-AC13-F8F63150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42B11-3687-F3F4-B76E-1617275A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B751-ACD8-CECD-CDD4-4EFFF6CFD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1394-F5DD-D532-2046-2E8F5428F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87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8D4D-32C8-C619-ACAC-1C11F2FEC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D2CD6-F7CC-5A03-46BA-65EE3FAD8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520C-AB31-32D0-28F5-FA067205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BC6C1-7281-F2DF-88AD-DBF63248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71E1-974B-9B57-80FB-B65AE6AB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32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4FB-E121-1804-A68B-76093275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F007-E1C1-E59F-F3FB-DC706FAA7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06D6-E013-C05E-9C7B-C8C957F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40" y="7574280"/>
            <a:ext cx="13624560" cy="655320"/>
          </a:xfr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10D8-6002-A8F4-4D5E-E95C1D9C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574282"/>
            <a:ext cx="1005840" cy="655319"/>
          </a:xfr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64EB808-9DE5-4B01-8298-DD0372440E09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82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1D7C-77AE-E08F-A431-309BDA94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B671-3464-4301-C2F7-FCFA238D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B6E5-B8CE-4D71-F8E3-ACC98E65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BE147-B685-AEE8-8F87-72C5A12D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EF5C-05F4-0FC6-CA1C-A108C086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8E78-03D5-BB16-215F-C437D26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775D-B685-CAF0-3C27-52D357018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69DF9-898E-6EBB-37F8-93F5B519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B7A5-002A-E426-57CA-177151D5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B1ED3-AA76-3DE3-2E9A-24177434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6E4BA-174F-4F7C-4D01-AE0DEDAF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2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14F8-AC16-062A-02BC-9C53B128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D4D8-1840-933A-7EC6-959092D75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49A01-7143-7746-D1D3-8830F1642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FDF2-D8DF-7BC8-5F5B-4A71386D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DAD9-A7B4-22ED-B581-4E9C66594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BAA1B-405D-BB4B-3A14-816F7B1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10233-128D-943B-6A82-6986DD39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17291-A7AD-EED3-F282-EEC91B06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30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0BA-1863-2FFA-E73F-64FD3715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76D8F-0BF3-46FF-D83C-4CEF76C9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2A52-56A8-5A9A-503C-018A1395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FDF4-75D9-642D-E08A-2BF68997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6A80A-9268-9641-6A4D-E8B548B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78F6C-5654-05AB-6DE1-55139127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8B9C3-D6AD-1AAA-D0B9-0EB8E75E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E792-F9EF-5D98-723B-03C30B93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964-0B83-DFDE-0824-26DEB5917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A971F-743D-CC0E-C4C3-3001F71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363ED-1EB2-987E-7B7F-C0A62AC5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18A9-5BE0-B91D-E9E2-DB9ADF52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F40B2-123B-AD71-6955-812C1677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09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0BC5-6005-F4CC-4CBB-A17C5430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9C2B4-4DC9-BA27-6321-EE3D9FBE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025B6-CAFA-E9D2-4461-53F577E0B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36CAD-9A79-72B8-15D4-7732B214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6F5E-559F-FB58-E3C4-6E69E7E4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CE32-2BFD-374D-7A90-D369D4D9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96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8624-EEEF-20FE-9B0E-F7A543AD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1B93-8DF0-665E-4483-277B0C7E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5162-8676-C808-9A49-C99206E8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7840-CFD7-4D00-43AD-C18576D1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B7ED-D096-47E1-7C0F-B69D0E21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54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F6703-86D6-70CF-EC9D-7D3372671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4A2C2-8214-EA24-CFBA-48FC2461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A020-9B17-F443-8316-35E69CFA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75B0-6902-FA83-F852-34CD64D3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F0E2-7D14-E612-20FD-A2B0415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9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A2A69-4679-D2A5-C398-48C84D0C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A7114-EA36-8529-ED0A-BD6E3335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7DDCF-C16C-FCCC-8AC2-1AF909F4E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77740" y="7682865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6200-65B6-EF43-2BB6-D11A147A9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7579582"/>
            <a:ext cx="14630400" cy="655320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96455-1244-8EB7-F622-CE8CF0C7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7574280"/>
            <a:ext cx="908094" cy="655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</a:defRPr>
            </a:lvl1pPr>
          </a:lstStyle>
          <a:p>
            <a:pPr algn="ctr"/>
            <a:fld id="{064EB808-9DE5-4B01-8298-DD0372440E09}" type="slidenum">
              <a:rPr lang="en-US" smtClean="0"/>
              <a:pPr algn="ctr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7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1217" y="1382846"/>
            <a:ext cx="89193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4800" b="1">
                <a:solidFill>
                  <a:srgbClr val="820000"/>
                </a:solidFill>
              </a:defRPr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0" y="7744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DB976473-A796-4E73-FC21-115B458B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85" y="0"/>
            <a:ext cx="6172200" cy="8229600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7E42556D-99A5-0721-3211-77AE7D3E1472}"/>
              </a:ext>
            </a:extLst>
          </p:cNvPr>
          <p:cNvSpPr txBox="1">
            <a:spLocks/>
          </p:cNvSpPr>
          <p:nvPr/>
        </p:nvSpPr>
        <p:spPr>
          <a:xfrm>
            <a:off x="464347" y="2600735"/>
            <a:ext cx="8926263" cy="334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Bachelor’s Degree Programme in Applied Computer Science and Artificial Intelligence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90555DAD-DFA3-E756-6A0D-294D20C8CA6D}"/>
              </a:ext>
            </a:extLst>
          </p:cNvPr>
          <p:cNvSpPr txBox="1"/>
          <p:nvPr/>
        </p:nvSpPr>
        <p:spPr>
          <a:xfrm>
            <a:off x="464950" y="7210309"/>
            <a:ext cx="15720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</a:defRPr>
            </a:pPr>
            <a:r>
              <a:rPr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A.Y. 2025/2026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3A23DD99-6430-864B-9F1F-AF47F5649B68}"/>
              </a:ext>
            </a:extLst>
          </p:cNvPr>
          <p:cNvSpPr txBox="1">
            <a:spLocks/>
          </p:cNvSpPr>
          <p:nvPr/>
        </p:nvSpPr>
        <p:spPr>
          <a:xfrm>
            <a:off x="468479" y="2980599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1FC1CC2A-BE86-2DE3-69F1-D957AB49F68B}"/>
              </a:ext>
            </a:extLst>
          </p:cNvPr>
          <p:cNvSpPr txBox="1">
            <a:spLocks/>
          </p:cNvSpPr>
          <p:nvPr/>
        </p:nvSpPr>
        <p:spPr>
          <a:xfrm>
            <a:off x="468236" y="3826398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6D90AD51-DA92-164E-E5C2-5F0AA29883F4}"/>
              </a:ext>
            </a:extLst>
          </p:cNvPr>
          <p:cNvSpPr txBox="1">
            <a:spLocks/>
          </p:cNvSpPr>
          <p:nvPr/>
        </p:nvSpPr>
        <p:spPr>
          <a:xfrm>
            <a:off x="468236" y="4129144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968B7FE2-3386-530C-986E-568C449DFDF7}"/>
              </a:ext>
            </a:extLst>
          </p:cNvPr>
          <p:cNvSpPr txBox="1">
            <a:spLocks/>
          </p:cNvSpPr>
          <p:nvPr/>
        </p:nvSpPr>
        <p:spPr>
          <a:xfrm>
            <a:off x="468236" y="4431890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EB431655-5B7A-9F2D-EFE2-6B045CBC854D}"/>
              </a:ext>
            </a:extLst>
          </p:cNvPr>
          <p:cNvSpPr txBox="1">
            <a:spLocks/>
          </p:cNvSpPr>
          <p:nvPr/>
        </p:nvSpPr>
        <p:spPr>
          <a:xfrm>
            <a:off x="468236" y="4734636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ACDC7525-862D-6825-7F83-F9612C2005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B6D99D0-AD8A-8D75-1184-B15FA9566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B1135-D3D5-821B-3C54-0586D9F14115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it-IT" sz="3360" dirty="0">
                <a:ln w="0"/>
                <a:solidFill>
                  <a:prstClr val="white"/>
                </a:solidFill>
                <a:latin typeface="Arial" panose="020B0604020202020204"/>
              </a:rPr>
              <a:t>Table of Contents</a:t>
            </a:r>
            <a:endParaRPr lang="en-US" sz="3360" dirty="0">
              <a:ln w="0"/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E0E78-87DB-393C-11F6-8C0A6F93DFA9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white"/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82403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C2D9-F5EB-2FE5-7178-63818FE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96B7BA1-CF44-A572-2129-32353BD02488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1A1CA9D-D7A7-CEB5-E37E-52150B38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3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8B2124-B212-8386-9A95-E948C385761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4AB286C-60E6-FCE1-6C71-969A71FA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9281F9C-FE4C-B132-451C-AB0FC1C1B82E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n w="0"/>
                <a:solidFill>
                  <a:schemeClr val="tx2"/>
                </a:solidFill>
              </a:rPr>
              <a:t>Advanced Computer Vision System for Active Surveillance</a:t>
            </a:r>
            <a:endParaRPr lang="en-US" sz="2800" b="1" dirty="0">
              <a:ln w="0"/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A1229F5-145D-157C-5851-2F086615A806}"/>
              </a:ext>
            </a:extLst>
          </p:cNvPr>
          <p:cNvSpPr txBox="1"/>
          <p:nvPr/>
        </p:nvSpPr>
        <p:spPr>
          <a:xfrm>
            <a:off x="1835956" y="163805"/>
            <a:ext cx="1233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Context ●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E0E00B15-E26F-2B55-9F55-AF4BD7A18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1DD4589-4BCB-1EAC-A110-F8879313829F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7F83E1F-0D4F-E587-97AB-B1933CE7A09A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D274AE8-E81C-6739-FC46-7BFB4F06E9CC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38CCCBD-F0FF-5523-89F8-9CD7C3F216D6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27124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DAD2A-5CE8-279B-79A8-6FEFE80A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7A86F21A-BBD9-B76B-B216-CA7973C621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D6F76EB-81A3-06D3-1AC7-7C8B979C09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205743-7E30-D608-6608-47747FF259A1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B172-48C9-802E-AEBD-A077FB269957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68678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31A0E-AF5C-970F-0319-6DAA06BE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7861BF0-18E7-5760-ABB0-FB2E4DFB802C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97E21E-1A55-C1EA-C7EC-7B7ED54D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5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B61073-7028-DA3D-A5AA-557E1F04715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1C323C89-84E6-7A86-1C76-C3B7278AA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A9B1CB9-F1CD-4082-3A3B-F47A53919F89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Challenges in Real-Time Scene Understanding and Threat Detection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7875F24C-3600-659F-65CE-9FB37D6DF32F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/>
                </a:solidFill>
              </a:rPr>
              <a:t>Problem and Motivation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1AC928FE-4EB8-2ACC-2CCD-FE38E8399E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4583A93-743B-66B8-5878-507985774DAD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B25F948-F3EE-59DF-C04B-21C2D6F8BF1B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5558CB1-94D4-7D21-FC9B-BEA7A57BA59B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AADAF67-1CE7-492C-9654-CFA88165C081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117464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B6A6F-51CE-D6C8-5672-B5B9E5AD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01CDA2C-BE6F-A5FF-939A-0D19A01DA96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570427-F79F-22A9-8BB4-558D1357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6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9814C5-25AB-A6B7-5937-CF159E779629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154CBC9-7AD1-B183-5893-B81B703F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4474AAE7-D485-05FE-86E4-ED7704596448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Challenges in Real-Time Scene Understanding and Threat Detection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988B75F-D608-20D4-3188-691FD142553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/>
                </a:solidFill>
              </a:rPr>
              <a:t>Problem and Motivation ○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3F7C6BF-9753-8DCC-8069-FB0CB065490E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4862EAAA-ECC3-F553-3CA1-D0BE9A5C0A6F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4475DCC6-D2E5-B3CC-B1CB-D188197FBF76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734F3E14-3671-4AB1-3566-2C9BFBBA3644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52ED171-4387-5103-7333-526B37601969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87880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C51FB-3113-BF04-CE67-AFC24EFA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4F88C3C1-B306-91E6-6E51-74137EB88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BD239DCC-C9D5-BA3F-3F2D-C0C805912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697087-8038-56D0-36E4-AB28787D42CC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90361-59E1-3D9A-A6C3-0BF6A916C82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872221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1206A-15C0-AF4D-DCCF-F1A7620A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AAB4F86-756F-6FCA-CE1D-E800AC349199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88DDD4-878D-BF6E-1158-B6855AA4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8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94087E6-89CB-9397-385E-5EB69E5F53F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FDD7C91-D1DF-AF5D-D4D6-238572C8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6B330B5F-52CE-702F-028B-0E28D8A38A74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From Passive Video Analysis to Intelligent and Adaptive Surveillance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60A5303-2E71-90B6-B184-A4D97EB5957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2EE63094-3EE1-21B9-FB23-4ABF54B80E7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463893" y="1762740"/>
            <a:ext cx="5437632" cy="5437632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B4144BBA-1ADB-1B51-D9AD-428962C5E80F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EDD95811-D395-84A0-282E-ECA330E90064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FC09CE8-0158-BA26-4E0A-3DD42A4D7151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9C99435-4DB2-9C53-98D8-F29BB8628175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158470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81AC7-E6B1-5326-9C2A-685E4442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0B7784F-2EA3-A268-F394-024C7180EBA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BB4491-6E93-A9A4-FC8B-120C1BAF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9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D7F307-43C1-2AB5-6066-9F5F97FB2A32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32730586-E142-18A2-FB74-A6FAC016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C2F93476-B293-FDB9-B209-64E1A8C0880A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From Passive Video Analysis to Intelligent and Adaptive Surveillance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CD0E9A1-708B-CBE9-BD6F-4916E87C2E69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 dirty="0">
                <a:solidFill>
                  <a:schemeClr val="tx2"/>
                </a:solidFill>
              </a:rPr>
              <a:t>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68CA03-E055-6364-40F3-0C92A245F4C8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1109493-A4F7-5AB7-FC05-349C952AA735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F06F1C-5157-CFE3-0A37-32B9D780A5B8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F0EDF69-7BC0-9DF3-1586-AE00E063A2CD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BDF1E42-24EB-5111-3AD0-9DEDBD084636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366402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E0AB4-E197-DB9F-F15E-1F42FEE6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16A5E0A8-F1A7-91EC-4F86-809EF1511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2580192E-BFB5-DF3E-0265-DAE74C27D5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B7405-B9E5-DBA0-3EE5-A250DCAEE23E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52DB3-93F8-A26A-08B8-6A1D5C508E8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782460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C452E-911F-89CC-17C7-1553B818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94BFF0B-BF65-A5F9-D8B9-73D9BC4ED31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894035-3660-DB01-F100-2A622687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11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B5C3F18-7304-A454-DB29-4854EB331A0C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5FCE344-075D-1E0C-1D3D-BB46211460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C55FBE4-B299-DB1C-1F33-63382AF72D46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A Vision-Based Pipeline for Risk-Aware Interpretation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547B6CB-5D21-A896-BBFA-CF3EBE486F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●○○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63842F30-2031-4B33-427E-E2D2958535FE}"/>
              </a:ext>
            </a:extLst>
          </p:cNvPr>
          <p:cNvSpPr txBox="1"/>
          <p:nvPr/>
        </p:nvSpPr>
        <p:spPr>
          <a:xfrm>
            <a:off x="1634879" y="6518553"/>
            <a:ext cx="1184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endParaRPr lang="it-IT" sz="2000" dirty="0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2" name="Picture 8" descr="image(1).png">
            <a:extLst>
              <a:ext uri="{FF2B5EF4-FFF2-40B4-BE49-F238E27FC236}">
                <a16:creationId xmlns:a16="http://schemas.microsoft.com/office/drawing/2014/main" id="{62DE9A20-1D6B-2330-2B9D-B56A796F96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4" t="11465" r="2448" b="4177"/>
          <a:stretch>
            <a:fillRect/>
          </a:stretch>
        </p:blipFill>
        <p:spPr>
          <a:xfrm>
            <a:off x="1618488" y="1453896"/>
            <a:ext cx="11713464" cy="497247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EF6071-125C-29DA-7F19-798C274008BE}"/>
              </a:ext>
            </a:extLst>
          </p:cNvPr>
          <p:cNvSpPr txBox="1"/>
          <p:nvPr/>
        </p:nvSpPr>
        <p:spPr>
          <a:xfrm>
            <a:off x="1634879" y="6877989"/>
            <a:ext cx="1184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endParaRPr lang="it-IT" sz="20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30CEDE-1AE5-DEEA-7E37-36081F0DBCAC}"/>
              </a:ext>
            </a:extLst>
          </p:cNvPr>
          <p:cNvSpPr txBox="1"/>
          <p:nvPr/>
        </p:nvSpPr>
        <p:spPr>
          <a:xfrm>
            <a:off x="1634879" y="7237425"/>
            <a:ext cx="1184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0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0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endParaRPr lang="it-IT" sz="2000" dirty="0">
              <a:solidFill>
                <a:prstClr val="black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6496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835FF-F95B-44EC-293E-448D452F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1308CC8-6AE8-15E2-7EF6-C5944991785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7891DB-57BA-BDFD-D47A-57FCC14D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12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5E1595-A9E9-54B2-6AC3-C52620A101C8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DB1210D5-A09A-15C5-DF89-C726674B84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30D26CA6-A341-9D79-E88F-F57437EA23B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A Vision-Based Pipeline for Risk-Aware Interpretation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C5E3A8F-0B2B-D1C9-CC1F-C3955779D97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○●○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47EC08-35BA-EAAF-F7D0-A7697249CCBE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D9A7E2-41C8-E1A9-3018-9D33DE33631E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D440EF-1967-3006-52E3-25E0E43CC68E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E2AECA-0B0F-43E3-55A8-47037EE234EE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3EF3F7-BC41-5869-FD10-0A59F666951E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3344034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B1661-065D-B249-88F7-E8E3E321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68AC669-C514-BD75-85A3-13E0B842BD3A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4EEAA4-E11E-2298-7C6A-330FD611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13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4AB887D-3BCA-15AA-9C40-D94182E12D92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E5B4604F-6183-0028-8481-CB48A9AFD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F200EF3D-A4E4-9E48-09DF-F19F26A526A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A Vision-Based Pipeline for Risk-Aware Interpretation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5E321CF-F69A-8E66-725E-928E4BB3380C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○○●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519022C-CFA8-D7DA-8D8F-216E3ACC242B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FD58F5-0BB5-7B61-98CF-34189438F4EA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AFEEFA0-69B1-05A3-CD55-B5EB11099AC7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721D79-7D07-BC25-EF0B-85E2E4EB7006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B91EA4-0EF7-BD8E-12E0-B24A78129F85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2811637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9BDF8-0FCB-8BAE-6A56-89547DFD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FB14C83-549A-3113-3796-B5D24CB5C2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42110106-6A5D-1957-ACC6-14FB736D15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2181CA-9A6E-A0E9-2AC0-86CF5D06032A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88888-3615-7E99-3848-7052CF64AA40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39268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E01B3-2F72-CF0E-081C-DD14DAA3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1F86321-8BA1-8C00-70CC-7A75810B985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6C4B81-B587-58F3-122A-CD697BC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15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E83A13-9A0D-B7C7-005A-523936488F03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8D0F4EE3-7E96-1427-B176-4254E5DB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056D422E-C7F5-1EAC-CD14-621D6C21BE7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Evaluating Detection and Anomaly Reasoning in Complex Scenarios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2C2438F1-3F44-2852-9072-6A6B13B9615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●○○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41E93C5B-5D71-97E5-FAB8-F16F583CE6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F4E45F0-0C33-375F-D851-C48548BD050A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A43369E-B973-FEB9-2FBC-89DDACC85FF6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AAA7942-E530-5C93-09BE-EE223683B31D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6C0A4D9-D3A0-FD89-BBF8-7112A3880451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296765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B86EE-17B1-1A82-EEF6-747F9B10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A24B89F-F68C-2520-9CA7-A8FCCE50710E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AA6DEC-61AE-CC52-0425-197CB692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16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4EF330-805C-DF7B-5115-2BECEE4879DC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03C4EE9A-7494-2FD2-890F-398DD6F4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F0E0BC96-B55E-422E-8ACF-DFD0E6C67C86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Evaluating Detection and Anomaly Reasoning in Complex Scenarios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395E8DB-0588-F14F-1CA3-5B7F9561D18A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○●○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9D162D0E-DA61-60A3-1561-57A3054EE6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B08F12C-04D8-A0BE-80D0-CEC17271E607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63F911E-82AF-3BA0-5E9F-87B88B9041F8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6BC32E5-C0DC-9BAD-675B-EFEE0252DA84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E8D30F9-9560-0669-93EA-23FC3D310814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395747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5BA6F-3B52-E315-861B-8BC57787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A82746D-D7A8-DF3A-F39F-57631C791BB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FB3C7F-38A0-2232-41D6-E727D07B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17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72F491F-B479-B3FD-F8CA-007F4EF6EE1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9A6AE5C2-6D36-CDA2-C5D0-DC9055CF7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5BF28C08-6CD7-597D-769F-DCA09231709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Evaluating Detection and Anomaly Reasoning in Complex Scenarios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5F7F761-D91F-9232-55E2-B3782B2921C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○○●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CED7DA-675F-2F18-BFBE-89B9C0D88589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46253F-6D1F-C0ED-C406-BD79B88166DC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34806B-CB1A-21C6-87B5-2E3F0EF0C2BE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B98BFE-C9BC-813F-26C0-087CC3152251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8636A73-B243-059B-690F-B6AE2C83EA0A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141755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3F415-E2EB-AEFC-ABBA-3515A120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6D9F9ED9-8440-65DD-C411-4ED8402EE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6B8750F-4D25-2F86-12E2-FAEE3B6FDB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449E17-31C0-D2DC-D270-15C951C22C93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ACFA6-0AF0-D856-1710-5AD9A67BAC71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63361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374D0-2A00-0C51-E935-192E1180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E8E0E2C-0874-D49A-5E41-44C096D0C7B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07F7D8-2471-C4FF-2BF8-404975F9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19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3512DB-D938-362B-A623-549ED345C54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2EB1857D-706B-175E-5AD0-C54F1337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9C644F5-2434-58CB-B6AE-526037247AFD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Failure Cases, Reproducibility, and Deployment Constraints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74776C1-F4AC-B7CB-3233-C4C6420CB2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Critical Discussion and Limitations 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4120F06-A917-8CE5-CBC9-302B20C67752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B844E4-3E6C-2739-31A2-22871EF9CA52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971327-530C-9261-6F33-27E74B5B3985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C94EA77-7B18-0859-AAE2-5D0E6BF9ACEA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80F2D6-F937-A3E2-2F3C-5D813C704BE3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2610791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97AF5-FD98-2353-B461-AF7AB0C4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F214AB1C-F7D8-8DE9-E978-29DBED57B5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A872068-2C44-7B6A-6691-1E04370F39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7070C-D112-B03B-E219-79B5A8D6E660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7E7F8-37E4-AA31-0811-953F2BAB31EF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5132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CC563-587D-2F98-B344-7B53D869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D74B8ED-5262-2C11-E4A8-2D17049E0CE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9BE318-3B07-B484-6770-F58A59F8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21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04296A-31F5-2DA8-DFFB-0862BA07320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4A6C5DF0-C8F4-B9E9-C8D1-82EF80A3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B14ADCF-CDBA-9526-E00C-D1872E21CEBC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From Visual Monitoring to Intelligent Situation Awareness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AAB5A63-9FC3-DD3D-C9E5-287BC00EF861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Conclusion and Future Work 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33C71A3-0D0E-3D51-32E6-5A0530FCD8A3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8BE47A0-2DD9-23F9-4DC6-94B6B48C0C75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Ipsum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C3E5D67-E59A-474F-4BD9-056252F34380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626E35-7093-4B76-D82A-61B66D3CA5A2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6D09C7F-35A9-FB4A-6C63-E8750F860D6D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Lorem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ipsum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dolor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amet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consectetur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adipiscing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elit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Vestibulum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consequat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pretium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semper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Proin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luctus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orci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ac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neque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venenatis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commodo.</a:t>
            </a:r>
          </a:p>
        </p:txBody>
      </p:sp>
    </p:spTree>
    <p:extLst>
      <p:ext uri="{BB962C8B-B14F-4D97-AF65-F5344CB8AC3E}">
        <p14:creationId xmlns:p14="http://schemas.microsoft.com/office/powerpoint/2010/main" val="638629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E0F2A-42F6-FC82-99C1-ECA5230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592F1A4-D7E9-B489-D41E-1AD40B4A86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826B54C8-9005-F796-8445-4992162687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92F418-5FF2-31F9-3419-7D61BC07BE8E}"/>
              </a:ext>
            </a:extLst>
          </p:cNvPr>
          <p:cNvSpPr txBox="1"/>
          <p:nvPr/>
        </p:nvSpPr>
        <p:spPr>
          <a:xfrm>
            <a:off x="0" y="2069483"/>
            <a:ext cx="1463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i="1" dirty="0">
                <a:solidFill>
                  <a:schemeClr val="bg1"/>
                </a:solidFill>
                <a:latin typeface="+mj-lt"/>
              </a:rPr>
              <a:t>THANK YOU FOR LISTENING!</a:t>
            </a:r>
          </a:p>
          <a:p>
            <a:pPr algn="ctr"/>
            <a:r>
              <a:rPr lang="it-IT" sz="2800" i="1" dirty="0">
                <a:solidFill>
                  <a:schemeClr val="bg1"/>
                </a:solidFill>
                <a:latin typeface="+mj-lt"/>
              </a:rPr>
              <a:t>ANY QUESTIONS?</a:t>
            </a:r>
            <a:endParaRPr lang="en-US" sz="28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magine 5" descr="Decreto #IoRestoaCasa, domande frequenti sulle misure adottate dal Governo  - CERIMONIE, EVENTI E ATTIVITA' RICREATIVE - Montesegale">
            <a:extLst>
              <a:ext uri="{FF2B5EF4-FFF2-40B4-BE49-F238E27FC236}">
                <a16:creationId xmlns:a16="http://schemas.microsoft.com/office/drawing/2014/main" id="{D5749F58-5FB8-7840-00F3-8A76FBC8E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140" y="3132813"/>
            <a:ext cx="2932121" cy="42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Thesis">
      <a:dk1>
        <a:sysClr val="windowText" lastClr="000000"/>
      </a:dk1>
      <a:lt1>
        <a:sysClr val="window" lastClr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1896</Words>
  <Application>Microsoft Office PowerPoint</Application>
  <PresentationFormat>Personalizzato</PresentationFormat>
  <Paragraphs>199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Arial</vt:lpstr>
      <vt:lpstr>Arial Nova</vt:lpstr>
      <vt:lpstr>Calibri</vt:lpstr>
      <vt:lpstr>Wingdings</vt:lpstr>
      <vt:lpstr>Office Theme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Danilo Avola</cp:lastModifiedBy>
  <cp:revision>7</cp:revision>
  <dcterms:created xsi:type="dcterms:W3CDTF">2013-01-27T09:14:16Z</dcterms:created>
  <dcterms:modified xsi:type="dcterms:W3CDTF">2026-06-02T19:02:18Z</dcterms:modified>
  <cp:category/>
</cp:coreProperties>
</file>